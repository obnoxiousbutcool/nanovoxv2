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this one sentence and stop talking. Everything else in the deck is a consequence of it. If they only remember one thing, it is that the language model produces quoted evidence and never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commercial point: no provider lock-in, and no silent drift when a vendor ships a new model version. Audit and dispute both need the number to be reproducible, and this is what makes it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one row at a time if the room is engaged. Do NOT explain the arithmetic yet — let someone ask where 90 came from. That question is what the next slide answers, and an answer to a question already asked lands far harder than the same slide unprompted.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Colour each term to match the ledger rows on the previous slide. The ceiling of 100 is not an accident of the formula — the offset is capped at the penalty total, so praise can only cancel a penalty that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points only: negatives dominate, and escalation plus compliance cost most. The bars carry both from the back of the room. Do not walk the table row by row, and keep the per-dimension caps for the appendix if anyone asks how they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slide in the deck. Every slide before it CLAIMS the number is trustworthy; this is the one that demonstrates it. Expect the compliance people in the room to engage here — the example is a fabricated quote being caught and discarded, which is exactly the failure they fear.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withholding as restraint, before anyone finds it themselves and reads it as a gap. The second gate is worth dwelling on: it is a defect we found and closed, which is a more credible thing to say than claiming there were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calibration caveat out loud rather than burying it. Claiming the weights are validated against outcomes would be false, and the room will discover it the first time a score is disputed.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governance, not on technology. The ask that follows this slide is usually “who signs off on a weight change” — have an answer ready. Everything else in the deck is in the appendix if they want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5E6E2"/>
                </a:solidFill>
                <a:latin typeface="Consolas"/>
              </a:rPr>
              <a:t>01   THE ONE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Zilla Slab"/>
              </a:rPr>
              <a:t>The model does not
score the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004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D5E6E2"/>
                </a:solidFill>
                <a:latin typeface="Source Sans Pro"/>
              </a:rPr>
              <a:t>It returns quoted evidence. A fixed rubric does the arithmetic.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480560"/>
            <a:ext cx="2057400" cy="868680"/>
          </a:xfrm>
          <a:prstGeom prst="rect">
            <a:avLst/>
          </a:prstGeom>
          <a:solidFill>
            <a:srgbClr val="16211F"/>
          </a:solidFill>
          <a:ln w="12700">
            <a:solidFill>
              <a:srgbClr val="4A5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Transcript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62656" y="4809744"/>
            <a:ext cx="310896" cy="201168"/>
          </a:xfrm>
          <a:prstGeom prst="rightArrow">
            <a:avLst/>
          </a:prstGeom>
          <a:solidFill>
            <a:srgbClr val="77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01568" y="4480560"/>
            <a:ext cx="2057400" cy="868680"/>
          </a:xfrm>
          <a:prstGeom prst="rect">
            <a:avLst/>
          </a:prstGeom>
          <a:solidFill>
            <a:srgbClr val="0F6B5F"/>
          </a:solidFill>
          <a:ln w="12700">
            <a:solidFill>
              <a:srgbClr val="0F6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Evidence
markers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86984" y="4809744"/>
            <a:ext cx="310896" cy="201168"/>
          </a:xfrm>
          <a:prstGeom prst="rightArrow">
            <a:avLst/>
          </a:prstGeom>
          <a:solidFill>
            <a:srgbClr val="77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25896" y="4480560"/>
            <a:ext cx="2057400" cy="868680"/>
          </a:xfrm>
          <a:prstGeom prst="rect">
            <a:avLst/>
          </a:prstGeom>
          <a:solidFill>
            <a:srgbClr val="16211F"/>
          </a:solidFill>
          <a:ln w="12700">
            <a:solidFill>
              <a:srgbClr val="4A5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Rubric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211312" y="4809744"/>
            <a:ext cx="310896" cy="201168"/>
          </a:xfrm>
          <a:prstGeom prst="rightArrow">
            <a:avLst/>
          </a:prstGeom>
          <a:solidFill>
            <a:srgbClr val="77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50224" y="4480560"/>
            <a:ext cx="2057400" cy="868680"/>
          </a:xfrm>
          <a:prstGeom prst="rect">
            <a:avLst/>
          </a:prstGeom>
          <a:solidFill>
            <a:srgbClr val="0F6B5F"/>
          </a:solidFill>
          <a:ln w="12700">
            <a:solidFill>
              <a:srgbClr val="0F6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6B5F"/>
                </a:solidFill>
                <a:latin typeface="Consolas"/>
              </a:rPr>
              <a:t>02   WHY THAT MATTERS TO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6211F"/>
                </a:solidFill>
                <a:latin typeface="Zilla Slab"/>
              </a:rPr>
              <a:t>Same transcript, same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A5C58"/>
                </a:solidFill>
                <a:latin typeface="Source Sans Pro"/>
              </a:rPr>
              <a:t>Re-run last quarter and you get last quarter's numbers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7520"/>
            <a:ext cx="3063240" cy="2286000"/>
          </a:xfrm>
          <a:prstGeom prst="rect">
            <a:avLst/>
          </a:prstGeom>
          <a:solidFill>
            <a:srgbClr val="FBFCFB"/>
          </a:solidFill>
          <a:ln w="12700">
            <a:solidFill>
              <a:srgbClr val="CC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PROVIDER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2514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0F6B5F"/>
                </a:solidFill>
                <a:latin typeface="Zilla Slab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006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call C0002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017520"/>
            <a:ext cx="3063240" cy="2286000"/>
          </a:xfrm>
          <a:prstGeom prst="rect">
            <a:avLst/>
          </a:prstGeom>
          <a:solidFill>
            <a:srgbClr val="FBFCFB"/>
          </a:solidFill>
          <a:ln w="12700">
            <a:solidFill>
              <a:srgbClr val="CC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PROVIDER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749039"/>
            <a:ext cx="2514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0F6B5F"/>
                </a:solidFill>
                <a:latin typeface="Zilla Slab"/>
              </a:rPr>
              <a:t>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8006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call C0002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3017520"/>
            <a:ext cx="3063240" cy="2286000"/>
          </a:xfrm>
          <a:prstGeom prst="rect">
            <a:avLst/>
          </a:prstGeom>
          <a:solidFill>
            <a:srgbClr val="FBFCFB"/>
          </a:solidFill>
          <a:ln w="12700">
            <a:solidFill>
              <a:srgbClr val="CC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29184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LOCAL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749039"/>
            <a:ext cx="2514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0F6B5F"/>
                </a:solidFill>
                <a:latin typeface="Zilla Slab"/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8006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call C0002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5C58"/>
                </a:solidFill>
                <a:latin typeface="Source Sans Pro"/>
              </a:rPr>
              <a:t>The provider reads the call. It does not decide what the call is worth — so changing provider changes cost and latency, never a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6B5F"/>
                </a:solidFill>
                <a:latin typeface="Consolas"/>
              </a:rPr>
              <a:t>03   ONE REAL CALL,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6211F"/>
                </a:solidFill>
                <a:latin typeface="Zilla Slab"/>
              </a:rPr>
              <a:t>Call C0002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A5C58"/>
                </a:solidFill>
                <a:latin typeface="Source Sans Pro"/>
              </a:rPr>
              <a:t>Five findings survived checking. Each one names a dimension and quotes the member or the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8595360" cy="2743200"/>
          </a:xfrm>
          <a:prstGeom prst="rect">
            <a:avLst/>
          </a:prstGeom>
          <a:solidFill>
            <a:srgbClr val="FBFCFB"/>
          </a:solidFill>
          <a:ln w="12700">
            <a:solidFill>
              <a:srgbClr val="CC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87752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empathy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560320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Acknowledged her concerns about cost, reassured her on the annual maximum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42032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F6B1C"/>
                </a:solidFill>
                <a:latin typeface="Consolas"/>
              </a:rPr>
              <a:t>+3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99232"/>
            <a:ext cx="8138160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18104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90672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Explained coverage correctly — crowns at 80% under her plan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72384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F6B1C"/>
                </a:solidFill>
                <a:latin typeface="Consolas"/>
              </a:rPr>
              <a:t>+2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529584"/>
            <a:ext cx="8138160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48456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proactivity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621024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Offered to email a one-page summary of coverage and remaining maximum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02736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F6B1C"/>
                </a:solidFill>
                <a:latin typeface="Consolas"/>
              </a:rPr>
              <a:t>+3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059936"/>
            <a:ext cx="8138160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788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empathy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151376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Never acknowledged how she felt about the unexpected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3308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3341F"/>
                </a:solidFill>
                <a:latin typeface="Consolas"/>
              </a:rPr>
              <a:t>−8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590288"/>
            <a:ext cx="8138160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70916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resolution_ownership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681728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Did not check for further questions before closing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6634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3341F"/>
                </a:solidFill>
                <a:latin typeface="Consolas"/>
              </a:rPr>
              <a:t>−10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394960"/>
            <a:ext cx="8595360" cy="19050"/>
          </a:xfrm>
          <a:prstGeom prst="rect">
            <a:avLst/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54126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C58"/>
                </a:solidFill>
                <a:latin typeface="Consolas"/>
              </a:rPr>
              <a:t>TOTALS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548640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>
                <a:solidFill>
                  <a:srgbClr val="4F6B1C"/>
                </a:solidFill>
                <a:latin typeface="Consolas"/>
              </a:rPr>
              <a:t>+8</a:t>
            </a:r>
            <a:r>
              <a:rPr sz="1900" b="1">
                <a:solidFill>
                  <a:srgbClr val="778B86"/>
                </a:solidFill>
                <a:latin typeface="Consolas"/>
              </a:rPr>
              <a:t>  /  </a:t>
            </a:r>
            <a:r>
              <a:rPr sz="1900" b="1">
                <a:solidFill>
                  <a:srgbClr val="A3341F"/>
                </a:solidFill>
                <a:latin typeface="Consolas"/>
              </a:rPr>
              <a:t>−18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423160"/>
            <a:ext cx="1965960" cy="2194560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807208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Zilla Slab"/>
              </a:rPr>
              <a:t>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959352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5E6E2"/>
                </a:solidFill>
                <a:latin typeface="Consolas"/>
              </a:rPr>
              <a:t>GOOD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78B86"/>
                </a:solidFill>
                <a:latin typeface="Consolas"/>
              </a:rPr>
              <a:t>Read from the stored record. Marker text is the model's own, condensed for width.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6B5F"/>
                </a:solidFill>
                <a:latin typeface="Consolas"/>
              </a:rPr>
              <a:t>04   WHERE DID 90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6211F"/>
                </a:solidFill>
                <a:latin typeface="Zilla Slab"/>
              </a:rPr>
              <a:t>One line of arithmetic.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7215" cy="1600200"/>
          </a:xfrm>
          <a:prstGeom prst="rect">
            <a:avLst/>
          </a:prstGeom>
          <a:solidFill>
            <a:srgbClr val="FBFCFB"/>
          </a:solidFill>
          <a:ln w="12700">
            <a:solidFill>
              <a:srgbClr val="CC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44450" cy="1600200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97228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>
                <a:solidFill>
                  <a:srgbClr val="16211F"/>
                </a:solidFill>
                <a:latin typeface="Consolas"/>
              </a:rPr>
              <a:t>100</a:t>
            </a:r>
            <a:r>
              <a:rPr sz="4400" b="0">
                <a:solidFill>
                  <a:srgbClr val="778B86"/>
                </a:solidFill>
                <a:latin typeface="Consolas"/>
              </a:rPr>
              <a:t>  −  ( </a:t>
            </a:r>
            <a:r>
              <a:rPr sz="4400" b="1">
                <a:solidFill>
                  <a:srgbClr val="A3341F"/>
                </a:solidFill>
                <a:latin typeface="Consolas"/>
              </a:rPr>
              <a:t>18</a:t>
            </a:r>
            <a:r>
              <a:rPr sz="4400" b="0">
                <a:solidFill>
                  <a:srgbClr val="778B86"/>
                </a:solidFill>
                <a:latin typeface="Consolas"/>
              </a:rPr>
              <a:t>  −  </a:t>
            </a:r>
            <a:r>
              <a:rPr sz="4400" b="1">
                <a:solidFill>
                  <a:srgbClr val="4F6B1C"/>
                </a:solidFill>
                <a:latin typeface="Consolas"/>
              </a:rPr>
              <a:t>8</a:t>
            </a:r>
            <a:r>
              <a:rPr sz="4400" b="0">
                <a:solidFill>
                  <a:srgbClr val="778B86"/>
                </a:solidFill>
                <a:latin typeface="Consolas"/>
              </a:rPr>
              <a:t> )  =  </a:t>
            </a:r>
            <a:r>
              <a:rPr sz="4400" b="1">
                <a:solidFill>
                  <a:srgbClr val="0F6B5F"/>
                </a:solidFill>
                <a:latin typeface="Consola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211F"/>
                </a:solidFill>
                <a:latin typeface="Consolas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BASE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C58"/>
                </a:solidFill>
                <a:latin typeface="Source Sans Pro"/>
              </a:rPr>
              <a:t>Nothing detracted from this call. Markers only move it 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4348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3341F"/>
                </a:solidFill>
                <a:latin typeface="Consolas"/>
              </a:rPr>
              <a:t>−18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9377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PENALTIES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30352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C58"/>
                </a:solidFill>
                <a:latin typeface="Source Sans Pro"/>
              </a:rPr>
              <a:t>The negative findings, summed. Capped per dimension.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4348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F6B1C"/>
                </a:solidFill>
                <a:latin typeface="Consola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9377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8B86"/>
                </a:solidFill>
                <a:latin typeface="Consolas"/>
              </a:rPr>
              <a:t>OFFSET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530352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C58"/>
                </a:solidFill>
                <a:latin typeface="Source Sans Pro"/>
              </a:rPr>
              <a:t>Praise offsets penalties up to 15 points — it never adds.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78B86"/>
                </a:solidFill>
                <a:latin typeface="Consolas"/>
              </a:rPr>
              <a:t>Positives can soften a poor call. They cannot erase a compliance failure, and cannot lift a score above 100.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6B5F"/>
                </a:solidFill>
                <a:latin typeface="Consolas"/>
              </a:rPr>
              <a:t>05   THE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11F"/>
                </a:solidFill>
                <a:latin typeface="Zilla Slab"/>
              </a:rPr>
              <a:t>Six dimensions, each with a weight and a ceiling.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5C58"/>
                </a:solidFill>
                <a:latin typeface="Source Sans Pro"/>
              </a:rPr>
              <a:t>A marker is worth its dimension's magnitude. Caps limit what any one issue can cost, so the same criticism phrased five ways cannot sink a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8B86"/>
                </a:solidFill>
                <a:latin typeface="Consolas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23317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8B86"/>
                </a:solidFill>
                <a:latin typeface="Consolas"/>
              </a:rPr>
              <a:t>PER 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3317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8B86"/>
                </a:solidFill>
                <a:latin typeface="Consolas"/>
              </a:rPr>
              <a:t>PER 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3317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8B86"/>
                </a:solidFill>
                <a:latin typeface="Consolas"/>
              </a:rPr>
              <a:t>CAP 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8B86"/>
                </a:solidFill>
                <a:latin typeface="Consolas"/>
              </a:rPr>
              <a:t>WORST CASE FROM THIS DIMENSION ALONE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97480"/>
            <a:ext cx="10637215" cy="15875"/>
          </a:xfrm>
          <a:prstGeom prst="rect">
            <a:avLst/>
          </a:prstGeom>
          <a:solidFill>
            <a:srgbClr val="77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25496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Recognising and acting on 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78B86"/>
                </a:solidFill>
                <a:latin typeface="Consolas"/>
              </a:rPr>
              <a:t>escalation_appropriateness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89864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F6B1C"/>
                </a:solidFill>
                <a:latin typeface="Consolas"/>
              </a:rPr>
              <a:t>+3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89864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3341F"/>
                </a:solidFill>
                <a:latin typeface="Consolas"/>
              </a:rPr>
              <a:t>−20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89864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58"/>
                </a:solidFill>
                <a:latin typeface="Consolas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962656"/>
            <a:ext cx="3200400" cy="146304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962656"/>
            <a:ext cx="2844800" cy="146304"/>
          </a:xfrm>
          <a:prstGeom prst="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27832"/>
            <a:ext cx="10637215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00984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Required disclosures and conduct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78B86"/>
                </a:solidFill>
                <a:latin typeface="Consolas"/>
              </a:rPr>
              <a:t>compliance_disclosure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374136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F6B1C"/>
                </a:solidFill>
                <a:latin typeface="Consolas"/>
              </a:rPr>
              <a:t>+2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374136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3341F"/>
                </a:solidFill>
                <a:latin typeface="Consolas"/>
              </a:rPr>
              <a:t>−15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374136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58"/>
                </a:solidFill>
                <a:latin typeface="Consolas"/>
              </a:rPr>
              <a:t>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3438144"/>
            <a:ext cx="3200400" cy="146304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3438144"/>
            <a:ext cx="3200400" cy="146304"/>
          </a:xfrm>
          <a:prstGeom prst="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703320"/>
            <a:ext cx="10637215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76472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Factual and procedural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9592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78B86"/>
                </a:solidFill>
                <a:latin typeface="Consolas"/>
              </a:rPr>
              <a:t>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849624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F6B1C"/>
                </a:solidFill>
                <a:latin typeface="Consolas"/>
              </a:rPr>
              <a:t>+2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849624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3341F"/>
                </a:solidFill>
                <a:latin typeface="Consolas"/>
              </a:rPr>
              <a:t>−12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849624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58"/>
                </a:solidFill>
                <a:latin typeface="Consolas"/>
              </a:rPr>
              <a:t>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3913632"/>
            <a:ext cx="3200400" cy="146304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3913632"/>
            <a:ext cx="2560320" cy="146304"/>
          </a:xfrm>
          <a:prstGeom prst="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178808"/>
            <a:ext cx="10637215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5196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Ownership of the member's 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47141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78B86"/>
                </a:solidFill>
                <a:latin typeface="Consolas"/>
              </a:rPr>
              <a:t>resolution_ownership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32511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F6B1C"/>
                </a:solidFill>
                <a:latin typeface="Consolas"/>
              </a:rPr>
              <a:t>+2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32511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3341F"/>
                </a:solidFill>
                <a:latin typeface="Consolas"/>
              </a:rPr>
              <a:t>−10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32511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58"/>
                </a:solidFill>
                <a:latin typeface="Consolas"/>
              </a:rPr>
              <a:t>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4389120"/>
            <a:ext cx="3200400" cy="146304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4389120"/>
            <a:ext cx="2133600" cy="146304"/>
          </a:xfrm>
          <a:prstGeom prst="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4654296"/>
            <a:ext cx="10637215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7274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Empathy and acknowledgement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946904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78B86"/>
                </a:solidFill>
                <a:latin typeface="Consolas"/>
              </a:rPr>
              <a:t>empathy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480060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F6B1C"/>
                </a:solidFill>
                <a:latin typeface="Consolas"/>
              </a:rPr>
              <a:t>+3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480060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3341F"/>
                </a:solidFill>
                <a:latin typeface="Consolas"/>
              </a:rPr>
              <a:t>−8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80060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58"/>
                </a:solidFill>
                <a:latin typeface="Consolas"/>
              </a:rPr>
              <a:t>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4864608"/>
            <a:ext cx="3200400" cy="146304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2440" y="4864608"/>
            <a:ext cx="1706880" cy="146304"/>
          </a:xfrm>
          <a:prstGeom prst="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5129784"/>
            <a:ext cx="10637215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202936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11F"/>
                </a:solidFill>
                <a:latin typeface="Source Sans Pro"/>
              </a:rPr>
              <a:t>Proactive help beyond the question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42239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78B86"/>
                </a:solidFill>
                <a:latin typeface="Consolas"/>
              </a:rPr>
              <a:t>proactivity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74920" y="527608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F6B1C"/>
                </a:solidFill>
                <a:latin typeface="Consolas"/>
              </a:rPr>
              <a:t>+3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27608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3341F"/>
                </a:solidFill>
                <a:latin typeface="Consolas"/>
              </a:rPr>
              <a:t>−6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527608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58"/>
                </a:solidFill>
                <a:latin typeface="Consolas"/>
              </a:rPr>
              <a:t>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5340096"/>
            <a:ext cx="3200400" cy="146304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92440" y="5340096"/>
            <a:ext cx="1280160" cy="146304"/>
          </a:xfrm>
          <a:prstGeom prst="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5605272"/>
            <a:ext cx="10637215" cy="12700"/>
          </a:xfrm>
          <a:prstGeom prst="rect">
            <a:avLst/>
          </a:prstGeom>
          <a:solidFill>
            <a:srgbClr val="CC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7698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6211F"/>
                </a:solidFill>
                <a:latin typeface="Source Sans Pro"/>
              </a:rPr>
              <a:t>Negatives outweigh positives three- to fourfold everywhere. The two most expensive are the ones whose consequences leave the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6B5F"/>
                </a:solidFill>
                <a:latin typeface="Consolas"/>
              </a:rPr>
              <a:t>06   WHAT WE REFUSE TO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11F"/>
                </a:solidFill>
                <a:latin typeface="Zilla Slab"/>
              </a:rPr>
              <a:t>A finding earns its place, or it is thrown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A5C58"/>
                </a:solidFill>
                <a:latin typeface="Source Sans Pro"/>
              </a:rPr>
              <a:t>Every marker is checked against the transcript before it can move the score. This is the step that makes the number auditable.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06040"/>
            <a:ext cx="5074920" cy="2148840"/>
          </a:xfrm>
          <a:prstGeom prst="rect">
            <a:avLst/>
          </a:prstGeom>
          <a:solidFill>
            <a:srgbClr val="FBFCFB"/>
          </a:solidFill>
          <a:ln w="12700">
            <a:solidFill>
              <a:srgbClr val="CC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78B86"/>
                </a:solidFill>
                <a:latin typeface="Consolas"/>
              </a:rPr>
              <a:t>THE MODEL CLAIMED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211F"/>
                </a:solidFill>
                <a:latin typeface="Source Sans Pro"/>
              </a:rPr>
              <a:t>“I can waive that fee for you today.”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778B86"/>
                </a:solidFill>
                <a:latin typeface="Consolas"/>
              </a:rPr>
              <a:t>cited at turn 9  ·  compliance_disclosure  ·  −15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5040" y="3566160"/>
            <a:ext cx="502920" cy="237744"/>
          </a:xfrm>
          <a:prstGeom prst="rightArrow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2606040"/>
            <a:ext cx="4663440" cy="2148840"/>
          </a:xfrm>
          <a:prstGeom prst="rect">
            <a:avLst/>
          </a:prstGeom>
          <a:solidFill>
            <a:srgbClr val="FBFCFB"/>
          </a:solidFill>
          <a:ln w="19050">
            <a:solidFill>
              <a:srgbClr val="A33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8346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341F"/>
                </a:solidFill>
                <a:latin typeface="Consolas"/>
              </a:rPr>
              <a:t>TURN 9 ACTUALLY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20040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A5C58"/>
                </a:solidFill>
                <a:latin typeface="Source Sans Pro"/>
              </a:rPr>
              <a:t>“I’ll note the dispute and someone will call you back.”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A3341F"/>
                </a:solidFill>
                <a:latin typeface="Consolas"/>
              </a:rPr>
              <a:t>quote_not_in_turn  —  refused, 0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663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3341F"/>
                </a:solidFill>
                <a:latin typeface="Consolas"/>
              </a:rPr>
              <a:t>unknown_dimension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864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C58"/>
                </a:solidFill>
                <a:latin typeface="Source Sans Pro"/>
              </a:rPr>
              <a:t>Not a dimension in the rubric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1663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3341F"/>
                </a:solidFill>
                <a:latin typeface="Consolas"/>
              </a:rPr>
              <a:t>missing_turn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4864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C58"/>
                </a:solidFill>
                <a:latin typeface="Source Sans Pro"/>
              </a:rPr>
              <a:t>No such turn in the transcript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51663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3341F"/>
                </a:solidFill>
                <a:latin typeface="Consolas"/>
              </a:rPr>
              <a:t>quote_not_in_turn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4864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C58"/>
                </a:solidFill>
                <a:latin typeface="Source Sans Pro"/>
              </a:rPr>
              <a:t>The words are not in the turn cited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78B86"/>
                </a:solidFill>
                <a:latin typeface="Consolas"/>
              </a:rPr>
              <a:t>Refusals are recorded and shown on the call — a model that keeps inventing quotes is a finding about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6B5F"/>
                </a:solidFill>
                <a:latin typeface="Consolas"/>
              </a:rPr>
              <a:t>07   WHEN WE WITHHOLD A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11F"/>
                </a:solidFill>
                <a:latin typeface="Zilla Slab"/>
              </a:rPr>
              <a:t>Two cases where we publish no number.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94560"/>
            <a:ext cx="5120640" cy="2880360"/>
          </a:xfrm>
          <a:prstGeom prst="rect">
            <a:avLst/>
          </a:prstGeom>
          <a:solidFill>
            <a:srgbClr val="FBFCFB"/>
          </a:solidFill>
          <a:ln w="12700">
            <a:solidFill>
              <a:srgbClr val="CC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211F"/>
                </a:solidFill>
                <a:latin typeface="Zilla Slab"/>
              </a:rPr>
              <a:t>Clinical risk in the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78B86"/>
                </a:solidFill>
                <a:latin typeface="Consolas"/>
              </a:rPr>
              <a:t>signal clinical_risk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58"/>
                </a:solidFill>
                <a:latin typeface="Source Sans Pro"/>
              </a:rPr>
              <a:t>A clinician reviews the call before anyone quotes a score. The number is still visible to the reviewer, with the reason — hiding how bad a call looks while it waits for sign-off helps nobody.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617720"/>
            <a:ext cx="1417320" cy="329184"/>
          </a:xfrm>
          <a:prstGeom prst="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Provisional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120640" cy="2880360"/>
          </a:xfrm>
          <a:prstGeom prst="rect">
            <a:avLst/>
          </a:prstGeom>
          <a:solidFill>
            <a:srgbClr val="FBFCFB"/>
          </a:solidFill>
          <a:ln w="12700">
            <a:solidFill>
              <a:srgbClr val="CC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211F"/>
                </a:solidFill>
                <a:latin typeface="Zilla Slab"/>
              </a:rPr>
              <a:t>Every finding failed checking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01752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78B86"/>
                </a:solidFill>
                <a:latin typeface="Consolas"/>
              </a:rPr>
              <a:t>0 of N markers survived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52044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58"/>
                </a:solidFill>
                <a:latin typeface="Source Sans Pro"/>
              </a:rPr>
              <a:t>No penalty applied because none survived, so the base score would come through as a flawless 100. That is not a good call — it is a call nobody has scored.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4617720"/>
            <a:ext cx="1417320" cy="329184"/>
          </a:xfrm>
          <a:prstGeom prst="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Provisional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11F"/>
                </a:solidFill>
                <a:latin typeface="Source Sans Pro"/>
              </a:rPr>
              <a:t>A call the model read and had no criticism of is a quiet call, and stays confirmed. Nothing proposed is not the same as nothing surviving — conflating the two would make the withheld count meaningless.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6B5F"/>
                </a:solidFill>
                <a:latin typeface="Consolas"/>
              </a:rPr>
              <a:t>08   WHERE THE CORPUS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6211F"/>
                </a:solidFill>
                <a:latin typeface="Zilla Slab"/>
              </a:rPr>
              <a:t>53 calls scored so far.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76856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C58"/>
                </a:solidFill>
                <a:latin typeface="Consolas"/>
              </a:rPr>
              <a:t>GOOD  ≥ 86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2148840"/>
            <a:ext cx="5852160" cy="566928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80360" y="2148840"/>
            <a:ext cx="3632375" cy="566928"/>
          </a:xfrm>
          <a:prstGeom prst="rect">
            <a:avLst/>
          </a:prstGeom>
          <a:solidFill>
            <a:srgbClr val="4F6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240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11F"/>
                </a:solidFill>
                <a:latin typeface="Consolas"/>
              </a:rPr>
              <a:t>18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54096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C58"/>
                </a:solidFill>
                <a:latin typeface="Consolas"/>
              </a:rPr>
              <a:t>AVERAGE  ≥ 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926080"/>
            <a:ext cx="5852160" cy="566928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2926080"/>
            <a:ext cx="5852160" cy="566928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30175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11F"/>
                </a:solidFill>
                <a:latin typeface="Consolas"/>
              </a:rPr>
              <a:t>29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C58"/>
                </a:solidFill>
                <a:latin typeface="Consolas"/>
              </a:rPr>
              <a:t>POOR  &lt;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703320"/>
            <a:ext cx="5852160" cy="566928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3703320"/>
            <a:ext cx="1210791" cy="566928"/>
          </a:xfrm>
          <a:prstGeom prst="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37947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11F"/>
                </a:solidFill>
                <a:latin typeface="Consolas"/>
              </a:rPr>
              <a:t>6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11F"/>
                </a:solidFill>
                <a:latin typeface="Source Sans Pro"/>
              </a:rPr>
              <a:t>All 53 are confirmed. No call has tripped a gate.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20640"/>
            <a:ext cx="10637215" cy="960120"/>
          </a:xfrm>
          <a:prstGeom prst="rect">
            <a:avLst/>
          </a:prstGeom>
          <a:solidFill>
            <a:srgbClr val="D5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03520"/>
            <a:ext cx="99971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211F"/>
                </a:solidFill>
                <a:latin typeface="Source Sans Pro"/>
              </a:rPr>
              <a:t>The 86 boundary is empirical, not round: Carlos averages 91.2, Linda 85.4, Michael 85.2 — so the defensible cut sits in the gap between them. The weights themselves are a calibrated starting point, not yet fitted to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5E6E2"/>
                </a:solidFill>
                <a:latin typeface="Consolas"/>
              </a:rPr>
              <a:t>09   CHANGING THE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Zilla Slab"/>
              </a:rPr>
              <a:t>The weights are data, not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5E6E2"/>
                </a:solidFill>
                <a:latin typeface="Source Sans Pro"/>
              </a:rPr>
              <a:t>Anyone who can read a form can review what a failure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926080"/>
            <a:ext cx="6309360" cy="2286000"/>
          </a:xfrm>
          <a:prstGeom prst="rect">
            <a:avLst/>
          </a:prstGeom>
          <a:solidFill>
            <a:srgbClr val="1C2725"/>
          </a:solidFill>
          <a:ln w="12700">
            <a:solidFill>
              <a:srgbClr val="3D4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0040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8B86"/>
                </a:solidFill>
                <a:latin typeface="Consolas"/>
              </a:rPr>
              <a:t>compliance_disclosure: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3B3AE"/>
                </a:solidFill>
                <a:latin typeface="Consolas"/>
              </a:rPr>
              <a:t>  label: Required disclosures and compliant conduct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3B3AE"/>
                </a:solidFill>
                <a:latin typeface="Consolas"/>
              </a:rPr>
              <a:t>  positive: 2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08163"/>
                </a:solidFill>
                <a:latin typeface="Consolas"/>
              </a:rPr>
              <a:t>  negative: 15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3B3AE"/>
                </a:solidFill>
                <a:latin typeface="Consolas"/>
              </a:rPr>
              <a:t>  max_positive: 6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3B3AE"/>
                </a:solidFill>
                <a:latin typeface="Consolas"/>
              </a:rPr>
              <a:t>  max_negative: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3063240"/>
            <a:ext cx="3657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Zilla Slab"/>
              </a:rPr>
              <a:t>One file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sz="1550" b="0">
                <a:solidFill>
                  <a:srgbClr val="A3B3AE"/>
                </a:solidFill>
                <a:latin typeface="Source Sans Pro"/>
              </a:rPr>
              <a:t>Version-controlled, reviewed like any policy change, and stamped onto every score it produced. A tightened rule is visible in the record — old scores keep the version they were judged under.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10637215" cy="19050"/>
          </a:xfrm>
          <a:prstGeom prst="rect">
            <a:avLst/>
          </a:prstGeom>
          <a:solidFill>
            <a:srgbClr val="3D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8B86"/>
                </a:solidFill>
                <a:latin typeface="Consolas"/>
              </a:rPr>
              <a:t>config/rubric.yaml  ·  rubric 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